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9A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C8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914400"/>
            <a:ext cx="2560320" cy="2560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A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FFCCCC"/>
                </a:solidFill>
              </a:rPr>
              <a:t>PT. DEA GLOBAL NIAGA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515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SISTEM KEAMANAN 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719072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&amp; ARSITEKTUR 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487168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EEEE"/>
                </a:solidFill>
              </a:rPr>
              <a:t>HRIS DEA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246120"/>
            <a:ext cx="6858000" cy="54864"/>
          </a:xfrm>
          <a:prstGeom prst="rect">
            <a:avLst/>
          </a:prstGeom>
          <a:solidFill>
            <a:srgbClr val="FF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42900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DDD"/>
                </a:solidFill>
              </a:rPr>
              <a:t>Dokumentasi Teknis: Autentikasi, MFA, Role Akses, dan Desain Database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4160520"/>
            <a:ext cx="1554480" cy="347472"/>
          </a:xfrm>
          <a:prstGeom prst="roundRect">
            <a:avLst/>
          </a:prstGeom>
          <a:solidFill>
            <a:srgbClr val="9A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" y="420624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Node.js + Express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47672" y="4160520"/>
            <a:ext cx="1554480" cy="347472"/>
          </a:xfrm>
          <a:prstGeom prst="roundRect">
            <a:avLst/>
          </a:prstGeom>
          <a:solidFill>
            <a:srgbClr val="9A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20824" y="420624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MongoDB (NoSQL)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75304" y="4160520"/>
            <a:ext cx="1554480" cy="347472"/>
          </a:xfrm>
          <a:prstGeom prst="roundRect">
            <a:avLst/>
          </a:prstGeom>
          <a:solidFill>
            <a:srgbClr val="9A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48456" y="420624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JWT Bearer Token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02936" y="4160520"/>
            <a:ext cx="1554480" cy="347472"/>
          </a:xfrm>
          <a:prstGeom prst="roundRect">
            <a:avLst/>
          </a:prstGeom>
          <a:solidFill>
            <a:srgbClr val="9A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6088" y="420624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TOTP MFA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30568" y="4160520"/>
            <a:ext cx="1554480" cy="347472"/>
          </a:xfrm>
          <a:prstGeom prst="roundRect">
            <a:avLst/>
          </a:prstGeom>
          <a:solidFill>
            <a:srgbClr val="9A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3720" y="420624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bcrypt Hash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47548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CCC"/>
                </a:solidFill>
              </a:rPr>
              <a:t>CONFIDENTIAL - INTERNAL USE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50292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AGENDA PRESENTASI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EBEB"/>
                </a:solidFill>
              </a:rPr>
              <a:t>Topik yang akan dibahas dalam presentasi ini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9A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47688"/>
            <a:ext cx="1170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DEA Global Niaga  |  HRIS System  |  Confidential  | 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88720"/>
            <a:ext cx="11430000" cy="868680"/>
          </a:xfrm>
          <a:prstGeom prst="roundRect">
            <a:avLst/>
          </a:prstGeom>
          <a:solidFill>
            <a:srgbClr val="F5F5F5"/>
          </a:solidFill>
          <a:ln w="762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548640" cy="86868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1325880"/>
            <a:ext cx="36576" cy="59436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128016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Arsitektur Keamanan 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166420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777777"/>
                </a:solidFill>
              </a:rPr>
              <a:t>Mekanisme JWT, bcrypt password hashing, device tracking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194560"/>
            <a:ext cx="11430000" cy="868680"/>
          </a:xfrm>
          <a:prstGeom prst="roundRect">
            <a:avLst/>
          </a:prstGeom>
          <a:solidFill>
            <a:srgbClr val="F5F5F5"/>
          </a:solidFill>
          <a:ln w="762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194560"/>
            <a:ext cx="548640" cy="868680"/>
          </a:xfrm>
          <a:prstGeom prst="rect">
            <a:avLst/>
          </a:prstGeom>
          <a:solidFill>
            <a:srgbClr val="125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2331720"/>
            <a:ext cx="36576" cy="594360"/>
          </a:xfrm>
          <a:prstGeom prst="rect">
            <a:avLst/>
          </a:prstGeom>
          <a:solidFill>
            <a:srgbClr val="125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22860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Alur Login &amp; Multi-Factor Authentication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267004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777777"/>
                </a:solidFill>
              </a:rPr>
              <a:t>Diagram flow lengkap: input kredensial → validasi TOTP → JWT token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200400"/>
            <a:ext cx="11430000" cy="868680"/>
          </a:xfrm>
          <a:prstGeom prst="roundRect">
            <a:avLst/>
          </a:prstGeom>
          <a:solidFill>
            <a:srgbClr val="F5F5F5"/>
          </a:solidFill>
          <a:ln w="762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200400"/>
            <a:ext cx="548640" cy="868680"/>
          </a:xfrm>
          <a:prstGeom prst="rect">
            <a:avLst/>
          </a:prstGeom>
          <a:solidFill>
            <a:srgbClr val="168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383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" y="3337560"/>
            <a:ext cx="36576" cy="594360"/>
          </a:xfrm>
          <a:prstGeom prst="rect">
            <a:avLst/>
          </a:prstGeom>
          <a:solidFill>
            <a:srgbClr val="168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2918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Sistem Role &amp; Hak Akses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3675887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777777"/>
                </a:solidFill>
              </a:rPr>
              <a:t>Tiga level role: User, Admin, SuperAdmin — perbedaan izin per fitur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4206240"/>
            <a:ext cx="11430000" cy="868680"/>
          </a:xfrm>
          <a:prstGeom prst="roundRect">
            <a:avLst/>
          </a:prstGeom>
          <a:solidFill>
            <a:srgbClr val="F5F5F5"/>
          </a:solidFill>
          <a:ln w="762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4206240"/>
            <a:ext cx="548640" cy="868680"/>
          </a:xfrm>
          <a:prstGeom prst="rect">
            <a:avLst/>
          </a:prstGeom>
          <a:solidFill>
            <a:srgbClr val="C47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389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" y="4343400"/>
            <a:ext cx="36576" cy="594360"/>
          </a:xfrm>
          <a:prstGeom prst="rect">
            <a:avLst/>
          </a:prstGeom>
          <a:solidFill>
            <a:srgbClr val="C47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" y="429768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Diagram Database (ERD)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468172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777777"/>
                </a:solidFill>
              </a:rPr>
              <a:t>Struktur 9 koleksi MongoDB, relasi 1:1 dan 1:Many, virtual FK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5212080"/>
            <a:ext cx="11430000" cy="868680"/>
          </a:xfrm>
          <a:prstGeom prst="roundRect">
            <a:avLst/>
          </a:prstGeom>
          <a:solidFill>
            <a:srgbClr val="F5F5F5"/>
          </a:solidFill>
          <a:ln w="762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5212080"/>
            <a:ext cx="548640" cy="868680"/>
          </a:xfrm>
          <a:prstGeom prst="rect">
            <a:avLst/>
          </a:prstGeom>
          <a:solidFill>
            <a:srgbClr val="9A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5394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" y="5349240"/>
            <a:ext cx="36576" cy="594360"/>
          </a:xfrm>
          <a:prstGeom prst="rect">
            <a:avLst/>
          </a:prstGeom>
          <a:solidFill>
            <a:srgbClr val="9A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8992" y="53035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Keamanan &amp; Best Practices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" y="568756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777777"/>
                </a:solidFill>
              </a:rPr>
              <a:t>Password policy, token expiry, file upload security,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01  ARSITEKTUR KEAMANAN 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EBEB"/>
                </a:solidFill>
              </a:rPr>
              <a:t>Sistem keamanan berlapis yang melindungi setiap akses ke HRIS DEA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9A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47688"/>
            <a:ext cx="1170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DEA Global Niaga  |  HRIS System  |  Confidential  | 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115568"/>
            <a:ext cx="5486400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15568"/>
            <a:ext cx="5486400" cy="347472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17957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LAYER 1 - IDENTIFIKASI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517904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Input: Username ATAU Nama Lengkap ATAU Email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764792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MongoDB query: $or filter case-insensitive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011680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Toleran terhadap variasi format input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2441448"/>
            <a:ext cx="5486400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441448"/>
            <a:ext cx="5486400" cy="347472"/>
          </a:xfrm>
          <a:prstGeom prst="rect">
            <a:avLst/>
          </a:prstGeom>
          <a:solidFill>
            <a:srgbClr val="125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50545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LAYER 2 - VERIFIKASI PASSWORD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2843784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Hash: bcrypt (salt rounds = 10, ~100ms)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3090672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bcrypt.compare() — constant-time safe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3337560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Mencegah brute-force (lambat by design)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3767328"/>
            <a:ext cx="5486400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767328"/>
            <a:ext cx="5486400" cy="347472"/>
          </a:xfrm>
          <a:prstGeom prst="rect">
            <a:avLst/>
          </a:prstGeom>
          <a:solidFill>
            <a:srgbClr val="C47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83133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LAYER 3 - MULTI-FACTOR AUTH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4169664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TOTP: Time-based One-Time Password (RFC 6238)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4416552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Library: speakeasy (6 digit, valid 30 detik)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4663440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Aktif jika mfa_enabled = true di user record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5093207"/>
            <a:ext cx="5486400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5093207"/>
            <a:ext cx="5486400" cy="347472"/>
          </a:xfrm>
          <a:prstGeom prst="rect">
            <a:avLst/>
          </a:prstGeom>
          <a:solidFill>
            <a:srgbClr val="168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515721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LAYER 4 - DEVICE TRACKING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5495544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Fingerprint: device_id tersimpan di localStorage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" y="5742431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Rekam: browser, OS, IP, last_active timestamp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5989320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Known device = skip MFA di login berikutnya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60" y="1115568"/>
            <a:ext cx="5806440" cy="347472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99632" y="117043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TOKEN &amp; SESSION MANAGEMENT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80760" y="1508760"/>
            <a:ext cx="5806440" cy="1490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80760" y="1508760"/>
            <a:ext cx="5806440" cy="32004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99632" y="1563624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JWT Token (HS256)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9632" y="1892807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Payload: { id: user._id, role: user.role 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9632" y="2139696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Expiry: 24 jam (expiresIn: '24h')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9632" y="2386584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Secret: disimpan di MongoDB (rotatable)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99632" y="2633472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Algo: HMAC-SHA256 — tidak bisa dimodifikasi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80760" y="3108960"/>
            <a:ext cx="5806440" cy="1490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080760" y="3108960"/>
            <a:ext cx="5806440" cy="320040"/>
          </a:xfrm>
          <a:prstGeom prst="rect">
            <a:avLst/>
          </a:prstGeom>
          <a:solidFill>
            <a:srgbClr val="C47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9632" y="3163824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First Login Enforcement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99632" y="3493008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is_first_login: true = wajib ganti password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99632" y="3739896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Token terbit tapi flag requirePasswordChange dikirim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99632" y="3986783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Frontend redirect ke form ubah password baru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99632" y="4233672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Setelah ganti: is_first_login di-set false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80760" y="4709160"/>
            <a:ext cx="5806440" cy="1490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080760" y="4709160"/>
            <a:ext cx="5806440" cy="320040"/>
          </a:xfrm>
          <a:prstGeom prst="rect">
            <a:avLst/>
          </a:prstGeom>
          <a:solidFill>
            <a:srgbClr val="125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99632" y="4764024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Auth Middleware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99632" y="5093208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verifyToken: decode &amp; validasi JWT di setiap request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99632" y="5340096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isAdmin: cek role = 'admin' atau 'superadmin'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99632" y="5586984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isSuperAdmin: cek role = 'superadmin' saja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99632" y="5833872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Token expired = 401 Unauthorized otomatis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02  DIAGRAM ALUR AUTENTIKASI &amp; MFA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EBEB"/>
                </a:solidFill>
              </a:rPr>
              <a:t>Alur lengkap dari input kredensial hingga token JWT diterbitkan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9A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47688"/>
            <a:ext cx="1170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DEA Global Niaga  |  HRIS System  |  Confidential  |  2026</a:t>
            </a:r>
          </a:p>
        </p:txBody>
      </p:sp>
      <p:pic>
        <p:nvPicPr>
          <p:cNvPr id="9" name="Picture 8" descr="hris_auth_mfa_flow_178662743304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97280"/>
            <a:ext cx="1193292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02  PENJELASAN STEP-BY-STEP ALUR 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EBEB"/>
                </a:solidFill>
              </a:rPr>
              <a:t>Deskripsi teknis setiap tahapan proses autentikasi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9A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47688"/>
            <a:ext cx="1170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DEA Global Niaga  |  HRIS System  |  Confidential  | 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1143000"/>
            <a:ext cx="283464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143000"/>
            <a:ext cx="2834640" cy="384048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21615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60020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101A"/>
                </a:solidFill>
              </a:rPr>
              <a:t>Input Kredensial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965960"/>
            <a:ext cx="2633472" cy="274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0574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User memasukkan nama/username dan password. Frontend mengirim deviceId dari localStorage.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1143000"/>
            <a:ext cx="283464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0" y="1143000"/>
            <a:ext cx="2834640" cy="384048"/>
          </a:xfrm>
          <a:prstGeom prst="rect">
            <a:avLst/>
          </a:prstGeom>
          <a:solidFill>
            <a:srgbClr val="125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121615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160020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5ED0"/>
                </a:solidFill>
              </a:rPr>
              <a:t>Pencarian User di DB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1965960"/>
            <a:ext cx="2633472" cy="274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20574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Backend query: $or { nama (case-insensitive), username, email }. Tidak ditemukan = 401.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143000"/>
            <a:ext cx="283464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1143000"/>
            <a:ext cx="2834640" cy="384048"/>
          </a:xfrm>
          <a:prstGeom prst="rect">
            <a:avLst/>
          </a:prstGeom>
          <a:solidFill>
            <a:srgbClr val="9A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121615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160020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A0710"/>
                </a:solidFill>
              </a:rPr>
              <a:t>Verifikasi Password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965960"/>
            <a:ext cx="2633472" cy="274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20574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bcrypt.compare(input, hash). Gagal = 401. Toleran terhadap migrasi password plaintext.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1143000"/>
            <a:ext cx="283464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0" y="1143000"/>
            <a:ext cx="2834640" cy="384048"/>
          </a:xfrm>
          <a:prstGeom prst="rect">
            <a:avLst/>
          </a:prstGeom>
          <a:solidFill>
            <a:srgbClr val="C47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0" y="121615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160020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7C08"/>
                </a:solidFill>
              </a:rPr>
              <a:t>Cek MFA Status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35440" y="1965960"/>
            <a:ext cx="2633472" cy="274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20574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Jika mfa_enabled = true AND device tidak dikenal, frontend tampilkan form OTP 6 digit.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" y="3749039"/>
            <a:ext cx="283464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" y="3749039"/>
            <a:ext cx="2834640" cy="384048"/>
          </a:xfrm>
          <a:prstGeom prst="rect">
            <a:avLst/>
          </a:prstGeom>
          <a:solidFill>
            <a:srgbClr val="C47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382219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42062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7C08"/>
                </a:solidFill>
              </a:rPr>
              <a:t>Validasi TOTP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572000"/>
            <a:ext cx="2633472" cy="274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466344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speakeasy.totp.verify() dengan window 30 detik. TOTP invalid = 401.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00400" y="3749039"/>
            <a:ext cx="283464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00400" y="3749039"/>
            <a:ext cx="2834640" cy="384048"/>
          </a:xfrm>
          <a:prstGeom prst="rect">
            <a:avLst/>
          </a:prstGeom>
          <a:solidFill>
            <a:srgbClr val="168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91840" y="382219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STEP 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42062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8A41"/>
                </a:solidFill>
              </a:rPr>
              <a:t>Tracking Perangkat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91840" y="4572000"/>
            <a:ext cx="2633472" cy="274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91840" y="466344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Device baru direkam: browser, OS, IP, timestamp. Known device = skip MFA.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72200" y="3749039"/>
            <a:ext cx="283464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72200" y="3749039"/>
            <a:ext cx="2834640" cy="384048"/>
          </a:xfrm>
          <a:prstGeom prst="rect">
            <a:avLst/>
          </a:prstGeom>
          <a:solidFill>
            <a:srgbClr val="168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63640" y="382219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STEP 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42062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8A41"/>
                </a:solidFill>
              </a:rPr>
              <a:t>Generate JWT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4572000"/>
            <a:ext cx="2633472" cy="274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63640" y="466344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Token HS256 dibuat dengan payload { id, role }, expire 24 jam, secret dari MongoDB.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44000" y="3749039"/>
            <a:ext cx="283464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144000" y="3749039"/>
            <a:ext cx="2834640" cy="384048"/>
          </a:xfrm>
          <a:prstGeom prst="rect">
            <a:avLst/>
          </a:prstGeom>
          <a:solidFill>
            <a:srgbClr val="125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35440" y="382219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STEP 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42062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5ED0"/>
                </a:solidFill>
              </a:rPr>
              <a:t>First Login Check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35440" y="4572000"/>
            <a:ext cx="2633472" cy="274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35440" y="466344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Jika is_first_login = true: kirim requirePasswordChange. Frontend paksa ubah password.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03  SISTEM ROLE &amp; HAK AKSES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EBEB"/>
                </a:solidFill>
              </a:rPr>
              <a:t>Tiga level akses dengan hak dan pembatasan yang berbeda-beda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9A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47688"/>
            <a:ext cx="1170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DEA Global Niaga  |  HRIS System  |  Confidential  | 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97280"/>
            <a:ext cx="3749039" cy="5577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3749039" cy="640080"/>
          </a:xfrm>
          <a:prstGeom prst="rect">
            <a:avLst/>
          </a:prstGeom>
          <a:solidFill>
            <a:srgbClr val="125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15214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1499616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Karyawan Biasa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184708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68A41"/>
                </a:solidFill>
              </a:rPr>
              <a:t>✓  Lihat &amp; edit profil diri sendiri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224028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68A41"/>
                </a:solidFill>
              </a:rPr>
              <a:t>✓  Ubah password pribadi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2633472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68A41"/>
                </a:solidFill>
              </a:rPr>
              <a:t>✓  Absensi (kamera + GPS)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3026664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68A41"/>
                </a:solidFill>
              </a:rPr>
              <a:t>✓  Lihat sertifikasi &amp; KPI pribadi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341985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68A41"/>
                </a:solidFill>
              </a:rPr>
              <a:t>✓  Setup MFA untuk akun sendiri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381304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68A41"/>
                </a:solidFill>
              </a:rPr>
              <a:t>✓  Lihat pengumuman &amp; agenda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420624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77777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4599431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0101A"/>
                </a:solidFill>
              </a:rPr>
              <a:t>✗  Tidak bisa lihat data karyawan lain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4992624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0101A"/>
                </a:solidFill>
              </a:rPr>
              <a:t>✗  Tidak bisa tambah/edit karyawan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" y="538581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0101A"/>
                </a:solidFill>
              </a:rPr>
              <a:t>✗  Tidak bisa akses pengaturan sistem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577900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77777"/>
                </a:solidFill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" y="617220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77777"/>
                </a:solidFill>
              </a:rPr>
              <a:t>Default untuk semua karyawan baru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59" y="1097280"/>
            <a:ext cx="3749039" cy="5577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51959" y="1097280"/>
            <a:ext cx="3749039" cy="640080"/>
          </a:xfrm>
          <a:prstGeom prst="rect">
            <a:avLst/>
          </a:prstGeom>
          <a:solidFill>
            <a:srgbClr val="C47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115214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1499616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HRGA / HSE / Manager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6551" y="184708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68A41"/>
                </a:solidFill>
              </a:rPr>
              <a:t>✓  Semua hak User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6551" y="224028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68A41"/>
                </a:solidFill>
              </a:rPr>
              <a:t>✓  Lihat SEMUA data karyawan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16551" y="2633472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68A41"/>
                </a:solidFill>
              </a:rPr>
              <a:t>✓  Tambah karyawan baru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16551" y="3026664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68A41"/>
                </a:solidFill>
              </a:rPr>
              <a:t>✓  Edit &amp; update data karyawan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16551" y="341985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68A41"/>
                </a:solidFill>
              </a:rPr>
              <a:t>✓  Upload dokumen karyawan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16551" y="381304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68A41"/>
                </a:solidFill>
              </a:rPr>
              <a:t>✓  Kelola sertifikasi (HSE Admin)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16551" y="420624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68A41"/>
                </a:solidFill>
              </a:rPr>
              <a:t>✓  Input KPI &amp; penilaian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16551" y="4599431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68A41"/>
                </a:solidFill>
              </a:rPr>
              <a:t>✓  Approve cuti &amp; izin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16551" y="4992624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68A41"/>
                </a:solidFill>
              </a:rPr>
              <a:t>✓  Lihat laporan absensi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16551" y="538581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77777"/>
                </a:solidFill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16551" y="577900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0101A"/>
                </a:solidFill>
              </a:rPr>
              <a:t>✗  Tidak bisa ubah role user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16551" y="617220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77777"/>
                </a:solidFill>
              </a:rPr>
              <a:t>Diberikan via kode SECRET_KEY_ADMIN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0" y="1097280"/>
            <a:ext cx="3749039" cy="5577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29600" y="1097280"/>
            <a:ext cx="3749039" cy="64008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66760" y="115214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SUPERADMIN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1499616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IT / Direktur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94192" y="184708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68A41"/>
                </a:solidFill>
              </a:rPr>
              <a:t>✓  Semua hak Admin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94192" y="224028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68A41"/>
                </a:solidFill>
              </a:rPr>
              <a:t>✓  Ubah role karyawan lain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94192" y="2633472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68A41"/>
                </a:solidFill>
              </a:rPr>
              <a:t>✓  Hapus karyawan (hard delete)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94192" y="3026664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68A41"/>
                </a:solidFill>
              </a:rPr>
              <a:t>✓  Regenerate JWT Secret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94192" y="341985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68A41"/>
                </a:solidFill>
              </a:rPr>
              <a:t>✓  Kelola semua departemen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94192" y="381304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68A41"/>
                </a:solidFill>
              </a:rPr>
              <a:t>✓  Pengaturan sistem global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94192" y="420624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68A41"/>
                </a:solidFill>
              </a:rPr>
              <a:t>✓  Bulk import karyawan (Excel)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94192" y="4599431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68A41"/>
                </a:solidFill>
              </a:rPr>
              <a:t>✓  Lihat log aktivitas keamanan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94192" y="4992624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68A41"/>
                </a:solidFill>
              </a:rPr>
              <a:t>✓  Akses JWT Secret management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94192" y="538581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77777"/>
                </a:solidFill>
              </a:rPr>
              <a:t/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94192" y="577900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77777"/>
                </a:solidFill>
              </a:rPr>
              <a:t>Dibuat manual via script/seeder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94192" y="617220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77777"/>
                </a:solidFill>
              </a:rPr>
              <a:t>Tidak ada endpoint publik untuk signup SuperAdmin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04  DIAGRAM DATABASE (ERD) — DEA HRIS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EBEB"/>
                </a:solidFill>
              </a:rPr>
              <a:t>Entity Relationship Diagram seluruh koleksi MongoDB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9A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47688"/>
            <a:ext cx="1170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DEA Global Niaga  |  HRIS System  |  Confidential  |  2026</a:t>
            </a:r>
          </a:p>
        </p:txBody>
      </p:sp>
      <p:pic>
        <p:nvPicPr>
          <p:cNvPr id="9" name="Picture 8" descr="hris_database_diagram_178662683872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97280"/>
            <a:ext cx="1193292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04  PENJELASAN KOLEKSI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EBEB"/>
                </a:solidFill>
              </a:rPr>
              <a:t>Deskripsi setiap koleksi MongoDB beserta field-field utama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9A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47688"/>
            <a:ext cx="1170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DEA Global Niaga  |  HRIS System  |  Confidential  | 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1143000"/>
            <a:ext cx="384048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143000"/>
            <a:ext cx="3840480" cy="384048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1188720"/>
            <a:ext cx="3621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1380744"/>
            <a:ext cx="3621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Koleksi utama autentikasi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" y="1600200"/>
            <a:ext cx="3621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username, password (bcrypt), nama, email_office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1901952"/>
            <a:ext cx="3621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role: user | admin | superadmin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" y="2203704"/>
            <a:ext cx="3621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mfa_enabled, mfa_secret (TOTP base32)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" y="2505456"/>
            <a:ext cx="3621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is_first_login, devices[ 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1143000"/>
            <a:ext cx="384048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60520" y="1143000"/>
            <a:ext cx="3840480" cy="384048"/>
          </a:xfrm>
          <a:prstGeom prst="rect">
            <a:avLst/>
          </a:prstGeom>
          <a:solidFill>
            <a:srgbClr val="125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0248" y="1188720"/>
            <a:ext cx="3621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employee_details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1380744"/>
            <a:ext cx="3621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Data Pribadi (1:1 ke users)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600200"/>
            <a:ext cx="3621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FK: user_id (UNIQUE INDEX)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901952"/>
            <a:ext cx="3621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tempat/tgl lahir, agama, status kawin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0248" y="2203704"/>
            <a:ext cx="3621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alamat, pendidikan, jurusan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0248" y="2505456"/>
            <a:ext cx="3621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no. HP, email, kontak darurat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1143000"/>
            <a:ext cx="384048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92440" y="1143000"/>
            <a:ext cx="3840480" cy="384048"/>
          </a:xfrm>
          <a:prstGeom prst="rect">
            <a:avLst/>
          </a:prstGeom>
          <a:solidFill>
            <a:srgbClr val="125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02167" y="1188720"/>
            <a:ext cx="3621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employment_records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2167" y="1380744"/>
            <a:ext cx="3621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Data Kepegawaian (1:1 ke users)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2167" y="1600200"/>
            <a:ext cx="3621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FK: user_id (UNIQUE) + department_id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02167" y="1901952"/>
            <a:ext cx="3621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NIK, nomor PKWT, perusahaan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02167" y="2203704"/>
            <a:ext cx="3621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jabatan, level, status, join_date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02167" y="2505456"/>
            <a:ext cx="3621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roster_type: 8/2 atau 6/2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" y="2971800"/>
            <a:ext cx="384048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" y="2971800"/>
            <a:ext cx="3840480" cy="384048"/>
          </a:xfrm>
          <a:prstGeom prst="rect">
            <a:avLst/>
          </a:prstGeom>
          <a:solidFill>
            <a:srgbClr val="125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8328" y="3017520"/>
            <a:ext cx="3621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employee_documents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" y="3209544"/>
            <a:ext cx="3621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Dokumen Legal &amp; Bank (1:1 ke users)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" y="3429000"/>
            <a:ext cx="3621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no_ktp, npwp, nomor_kpj, nomor_jkn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" y="3730752"/>
            <a:ext cx="3621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nama_rekening, nomor_rekening, nama_bank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" y="4032504"/>
            <a:ext cx="3621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ktp_file_url, kk_file_url, npwp_file_url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" y="4334256"/>
            <a:ext cx="3621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status_pajak (A0, B0, C0, ...)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60520" y="2971800"/>
            <a:ext cx="384048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60520" y="2971800"/>
            <a:ext cx="3840480" cy="384048"/>
          </a:xfrm>
          <a:prstGeom prst="rect">
            <a:avLst/>
          </a:prstGeom>
          <a:solidFill>
            <a:srgbClr val="168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70248" y="3017520"/>
            <a:ext cx="3621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departments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70248" y="3209544"/>
            <a:ext cx="3621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Divisi / Departemen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70248" y="3429000"/>
            <a:ext cx="3621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name, description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70248" y="3730752"/>
            <a:ext cx="3621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head_id (FK -&gt; users, ketua departemen)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70248" y="4032504"/>
            <a:ext cx="3621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Direferensikan dari users.department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70248" y="4334256"/>
            <a:ext cx="3621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dan employment_records.department_id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92440" y="2971800"/>
            <a:ext cx="384048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092440" y="2971800"/>
            <a:ext cx="3840480" cy="384048"/>
          </a:xfrm>
          <a:prstGeom prst="rect">
            <a:avLst/>
          </a:prstGeom>
          <a:solidFill>
            <a:srgbClr val="168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02167" y="3017520"/>
            <a:ext cx="3621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attendances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02167" y="3209544"/>
            <a:ext cx="3621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Absensi Harian (1:N ke users)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02167" y="3429000"/>
            <a:ext cx="3621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user_id + tanggal (compound index)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02167" y="3730752"/>
            <a:ext cx="3621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check_in, check_out (datetime)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02167" y="4032504"/>
            <a:ext cx="3621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photo_in/out_url (selfie kamera)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02167" y="4334256"/>
            <a:ext cx="3621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status: Hadir|Alpha|Cuti|Sakit|Izin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28600" y="4800600"/>
            <a:ext cx="384048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28600" y="4800600"/>
            <a:ext cx="3840480" cy="384048"/>
          </a:xfrm>
          <a:prstGeom prst="rect">
            <a:avLst/>
          </a:prstGeom>
          <a:solidFill>
            <a:srgbClr val="C47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8328" y="4846320"/>
            <a:ext cx="3621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certifications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8328" y="5038344"/>
            <a:ext cx="3621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Sertifikasi HSE (1:N ke users)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8328" y="5257800"/>
            <a:ext cx="3621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user_id + created_by_id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8328" y="5559552"/>
            <a:ext cx="3621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nama, kode, jenis (K3/Kompetensi/...)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8328" y="5861304"/>
            <a:ext cx="3621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tanggal terbit &amp; kadaluarsa (INDEX)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8328" y="6163056"/>
            <a:ext cx="3621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status: Aktif|Expired|Pending Renewal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160520" y="4800600"/>
            <a:ext cx="384048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160520" y="4800600"/>
            <a:ext cx="3840480" cy="384048"/>
          </a:xfrm>
          <a:prstGeom prst="rect">
            <a:avLst/>
          </a:prstGeom>
          <a:solidFill>
            <a:srgbClr val="C47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70248" y="4846320"/>
            <a:ext cx="3621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kpi_appraisals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70248" y="5038344"/>
            <a:ext cx="3621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Penilaian KPI (1:N ke users)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70248" y="5257800"/>
            <a:ext cx="3621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user_id (dinilai) + evaluator_id (penilai)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70248" y="5559552"/>
            <a:ext cx="3621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periode, bulan, tahun (compound index)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70248" y="5861304"/>
            <a:ext cx="3621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skor_target, skor_aktual, persentase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70248" y="6163056"/>
            <a:ext cx="3621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grade: A/B/C/D/E  |  rating: 1-5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092440" y="4800600"/>
            <a:ext cx="384048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092440" y="4800600"/>
            <a:ext cx="3840480" cy="384048"/>
          </a:xfrm>
          <a:prstGeom prst="rect">
            <a:avLst/>
          </a:prstGeom>
          <a:solidFill>
            <a:srgbClr val="9A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02167" y="4846320"/>
            <a:ext cx="3621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leave_requests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02167" y="5038344"/>
            <a:ext cx="3621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Permintaan Cuti (1:N ke users)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02167" y="5257800"/>
            <a:ext cx="3621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user_id + approved_by_id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02167" y="5559552"/>
            <a:ext cx="3621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tanggal_mulai, tanggal_selesai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02167" y="5861304"/>
            <a:ext cx="3621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jenis_cuti, durasi_hari (auto hitung)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02167" y="6163056"/>
            <a:ext cx="3621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- status: Pending|Disetujui|Ditolak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04  RELASI ANTAR KOLEKSI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EBEB"/>
                </a:solidFill>
              </a:rPr>
              <a:t>Hubungan 1:1 dan 1:Many antara koleksi dengan USERS sebagai pusat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9A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47688"/>
            <a:ext cx="1170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DEA Global Niaga  |  HRIS System  |  Confidential  | 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2286000"/>
            <a:ext cx="4572000" cy="1325880"/>
          </a:xfrm>
          <a:prstGeom prst="roundRect">
            <a:avLst/>
          </a:prstGeom>
          <a:solidFill>
            <a:srgbClr val="FFEBEB"/>
          </a:solidFill>
          <a:ln w="25400">
            <a:solidFill>
              <a:srgbClr val="E01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94760" y="2286000"/>
            <a:ext cx="4572000" cy="41148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233172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734056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44444"/>
                </a:solidFill>
              </a:rPr>
              <a:t>_id (PK)  |  username  |  password (bcrypt)  |  role  |  mfa_enabled  |  department_id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" y="1097280"/>
            <a:ext cx="33832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5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" y="1097280"/>
            <a:ext cx="3383280" cy="347472"/>
          </a:xfrm>
          <a:prstGeom prst="rect">
            <a:avLst/>
          </a:prstGeom>
          <a:solidFill>
            <a:srgbClr val="125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" y="1161288"/>
            <a:ext cx="316382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EMPLOYEE_DETAILS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1536192"/>
            <a:ext cx="3163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77777"/>
                </a:solidFill>
              </a:rPr>
              <a:t>FK: user_id (UNIQUE)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" y="1773936"/>
            <a:ext cx="3163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5ED0"/>
                </a:solidFill>
              </a:rPr>
              <a:t>1:1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" y="3474720"/>
            <a:ext cx="33832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5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2880" y="3474720"/>
            <a:ext cx="3383280" cy="347472"/>
          </a:xfrm>
          <a:prstGeom prst="rect">
            <a:avLst/>
          </a:prstGeom>
          <a:solidFill>
            <a:srgbClr val="125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" y="3538727"/>
            <a:ext cx="316382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EMPLOYMENT_RECORDS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" y="3913631"/>
            <a:ext cx="3163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77777"/>
                </a:solidFill>
              </a:rPr>
              <a:t>FK: user_id (UNIQUE)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" y="4151376"/>
            <a:ext cx="3163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5ED0"/>
                </a:solidFill>
              </a:rPr>
              <a:t>1:1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1097280"/>
            <a:ext cx="33832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5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21040" y="1097280"/>
            <a:ext cx="3383280" cy="347472"/>
          </a:xfrm>
          <a:prstGeom prst="rect">
            <a:avLst/>
          </a:prstGeom>
          <a:solidFill>
            <a:srgbClr val="125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0767" y="1161288"/>
            <a:ext cx="316382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EMPLOYEE_DOCUMENTS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7" y="1536192"/>
            <a:ext cx="3163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77777"/>
                </a:solidFill>
              </a:rPr>
              <a:t>FK: user_id (UNIQUE)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7" y="1773936"/>
            <a:ext cx="3163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5ED0"/>
                </a:solidFill>
              </a:rPr>
              <a:t>1:1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3474720"/>
            <a:ext cx="33832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8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21040" y="3474720"/>
            <a:ext cx="3383280" cy="347472"/>
          </a:xfrm>
          <a:prstGeom prst="rect">
            <a:avLst/>
          </a:prstGeom>
          <a:solidFill>
            <a:srgbClr val="168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30767" y="3538727"/>
            <a:ext cx="316382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DEPARTMENTS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0767" y="3913631"/>
            <a:ext cx="3163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777777"/>
                </a:solidFill>
              </a:rPr>
              <a:t>FK: user_id (UNIQUE)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30767" y="4151376"/>
            <a:ext cx="3163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8A41"/>
                </a:solidFill>
              </a:rPr>
              <a:t>N:1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5303520"/>
            <a:ext cx="265176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5303520"/>
            <a:ext cx="2651760" cy="329184"/>
          </a:xfrm>
          <a:prstGeom prst="rect">
            <a:avLst/>
          </a:prstGeom>
          <a:solidFill>
            <a:srgbClr val="168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5358383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ATTENDANCES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5742431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68A41"/>
                </a:solidFill>
              </a:rPr>
              <a:t>FK: user_id  |  1 : 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46120" y="5303520"/>
            <a:ext cx="265176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7C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46120" y="5303520"/>
            <a:ext cx="2651760" cy="329184"/>
          </a:xfrm>
          <a:prstGeom prst="rect">
            <a:avLst/>
          </a:prstGeom>
          <a:solidFill>
            <a:srgbClr val="C47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37560" y="5358383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CERTIFICATIONS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37560" y="5742431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47C08"/>
                </a:solidFill>
              </a:rPr>
              <a:t>FK: user_id  |  1 : 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5303520"/>
            <a:ext cx="265176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7C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5303520"/>
            <a:ext cx="2651760" cy="329184"/>
          </a:xfrm>
          <a:prstGeom prst="rect">
            <a:avLst/>
          </a:prstGeom>
          <a:solidFill>
            <a:srgbClr val="C47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59" y="5358383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KPI_APPRAISALS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59" y="5742431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47C08"/>
                </a:solidFill>
              </a:rPr>
              <a:t>FK: user_id  |  1 : 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89720" y="5303520"/>
            <a:ext cx="265176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A07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89720" y="5303520"/>
            <a:ext cx="2651760" cy="329184"/>
          </a:xfrm>
          <a:prstGeom prst="rect">
            <a:avLst/>
          </a:prstGeom>
          <a:solidFill>
            <a:srgbClr val="9A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81160" y="5358383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LEAVE_REQUESTS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60" y="5742431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A0710"/>
                </a:solidFill>
              </a:rPr>
              <a:t>FK: user_id  |  1 : 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" y="6400800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77777"/>
                </a:solidFill>
              </a:rPr>
              <a:t>Catatan: MongoDB menggunakan Virtual FK (Mongoose virtual populate). Tidak ada fisik JOIN tabel — relasi dikelola application-level.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05  KEAMANAN &amp; 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594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EBEB"/>
                </a:solidFill>
              </a:rPr>
              <a:t>Langkah-langkah keamanan yang diterapkan dalam sistem HRIS DEA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9A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47688"/>
            <a:ext cx="1170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DEA Global Niaga  |  HRIS System  |  Confidential  | 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1115568"/>
            <a:ext cx="3840480" cy="2377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115568"/>
            <a:ext cx="3840480" cy="402336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" y="1188720"/>
            <a:ext cx="3584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Password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" y="1618488"/>
            <a:ext cx="3584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- bcrypt hash dengan salt rounds =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2057400"/>
            <a:ext cx="3584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- Tidak ada plain-text password di 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2496312"/>
            <a:ext cx="3584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- Default: NIK karyawan (wajib ganti saat login pertama)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935224"/>
            <a:ext cx="3584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- Constant-time compare (anti timing attack)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115568"/>
            <a:ext cx="3840480" cy="2377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115568"/>
            <a:ext cx="3840480" cy="402336"/>
          </a:xfrm>
          <a:prstGeom prst="rect">
            <a:avLst/>
          </a:prstGeom>
          <a:solidFill>
            <a:srgbClr val="125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88536" y="1188720"/>
            <a:ext cx="3584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Token JWT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8536" y="1618488"/>
            <a:ext cx="3584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- JWT HS256, expire 24 jam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88536" y="2057400"/>
            <a:ext cx="3584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- Secret dinamis tersimpan di MongoDB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8536" y="2496312"/>
            <a:ext cx="3584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- SuperAdmin dapat rotate secret (logout semua)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88536" y="2935224"/>
            <a:ext cx="3584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- Stateless — scalable untuk multi-instance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1115568"/>
            <a:ext cx="3840480" cy="2377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2440" y="1115568"/>
            <a:ext cx="3840480" cy="402336"/>
          </a:xfrm>
          <a:prstGeom prst="rect">
            <a:avLst/>
          </a:prstGeom>
          <a:solidFill>
            <a:srgbClr val="C47C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0456" y="1188720"/>
            <a:ext cx="3584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MFA &amp; Device 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0456" y="1618488"/>
            <a:ext cx="3584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- TOTP RFC 6238 (Google Authenticator compatible)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0456" y="2057400"/>
            <a:ext cx="3584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- OTP 6 digit, valid 30 detik per window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0456" y="2496312"/>
            <a:ext cx="3584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- Device known = bypass MFA (kenyamanan user)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0456" y="2935224"/>
            <a:ext cx="3584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- Device baru = MFA wajib meskipun password benar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8600" y="3630168"/>
            <a:ext cx="3840480" cy="2377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630168"/>
            <a:ext cx="3840480" cy="402336"/>
          </a:xfrm>
          <a:prstGeom prst="rect">
            <a:avLst/>
          </a:prstGeom>
          <a:solidFill>
            <a:srgbClr val="168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" y="3703320"/>
            <a:ext cx="3584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File Upload Security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133087"/>
            <a:ext cx="3584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- Multer: hanya PDF, JPG, PNG (MIME check)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572000"/>
            <a:ext cx="3584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- Batas ukuran: 5 MB per file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5010912"/>
            <a:ext cx="3584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- Nama file: timestamp + random suffix (anti overwrite)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449823"/>
            <a:ext cx="3584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- URL disimpan sebagai path relatif, bukan absolut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60520" y="3630168"/>
            <a:ext cx="3840480" cy="2377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60520" y="3630168"/>
            <a:ext cx="3840480" cy="402336"/>
          </a:xfrm>
          <a:prstGeom prst="rect">
            <a:avLst/>
          </a:prstGeom>
          <a:solidFill>
            <a:srgbClr val="9A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88536" y="3703320"/>
            <a:ext cx="3584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API Security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88536" y="4133087"/>
            <a:ext cx="3584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- verifyToken middleware pada semua protected route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88536" y="4572000"/>
            <a:ext cx="3584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- Role guard: isAdmin / isSuperAdmin per endpoint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88536" y="5010912"/>
            <a:ext cx="3584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- Input sanitasi: hapus _id, department dari body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88536" y="5449823"/>
            <a:ext cx="3584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- CORS konfigurasi membatasi origin yang diizinkan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92440" y="3630168"/>
            <a:ext cx="3840480" cy="2377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92440" y="3630168"/>
            <a:ext cx="3840480" cy="40233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0456" y="3703320"/>
            <a:ext cx="3584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Database Security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0456" y="4133087"/>
            <a:ext cx="3584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- Index pada user_id, tanggal, role, kadaluarsa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0456" y="4572000"/>
            <a:ext cx="3584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- Unique constraint: username dan email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0456" y="5010912"/>
            <a:ext cx="3584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- Virtual FK: populate hanya saat diperlukan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0456" y="5449823"/>
            <a:ext cx="3584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- is_active untuk soft-delete karyawan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A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79224" y="0"/>
            <a:ext cx="109728" cy="6858000"/>
          </a:xfrm>
          <a:prstGeom prst="rect">
            <a:avLst/>
          </a:prstGeom>
          <a:solidFill>
            <a:srgbClr val="9A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274320"/>
            <a:ext cx="1764792" cy="1764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27432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RINGKASAN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868680"/>
            <a:ext cx="9418320" cy="54864"/>
          </a:xfrm>
          <a:prstGeom prst="rect">
            <a:avLst/>
          </a:prstGeom>
          <a:solidFill>
            <a:srgbClr val="FF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097280"/>
            <a:ext cx="5715000" cy="2423160"/>
          </a:xfrm>
          <a:prstGeom prst="roundRect">
            <a:avLst/>
          </a:prstGeom>
          <a:solidFill>
            <a:srgbClr val="C8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5715000" cy="438912"/>
          </a:xfrm>
          <a:prstGeom prst="rect">
            <a:avLst/>
          </a:prstGeom>
          <a:solidFill>
            <a:srgbClr val="9A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KEAMANAN 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64207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- 4 Layer: Identifikasi, bcrypt, MFA, Device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67128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- JWT HS256 rotatable secret, 24 jam expire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70048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- TOTP RFC 6238 + known device bypass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097280"/>
            <a:ext cx="5715000" cy="2423160"/>
          </a:xfrm>
          <a:prstGeom prst="roundRect">
            <a:avLst/>
          </a:prstGeom>
          <a:solidFill>
            <a:srgbClr val="C8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097280"/>
            <a:ext cx="5715000" cy="438912"/>
          </a:xfrm>
          <a:prstGeom prst="rect">
            <a:avLst/>
          </a:prstGeom>
          <a:solidFill>
            <a:srgbClr val="083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170432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ROLE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664207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- 3 Level: User | Admin | SuperAdmin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67128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- Middleware guard per endpoint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670048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- Granular permission per fitur HRIS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703320"/>
            <a:ext cx="5715000" cy="2423160"/>
          </a:xfrm>
          <a:prstGeom prst="roundRect">
            <a:avLst/>
          </a:prstGeom>
          <a:solidFill>
            <a:srgbClr val="C8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703320"/>
            <a:ext cx="5715000" cy="438912"/>
          </a:xfrm>
          <a:prstGeom prst="rect">
            <a:avLst/>
          </a:prstGeom>
          <a:solidFill>
            <a:srgbClr val="076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776472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270248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- 9 koleksi MongoDB (NoSQL document)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773168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- 3 koleksi ekstensi 1:1 + 5 koleksi 1:Many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276088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- Virtual FK dengan Mongoose populate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703320"/>
            <a:ext cx="5715000" cy="2423160"/>
          </a:xfrm>
          <a:prstGeom prst="roundRect">
            <a:avLst/>
          </a:prstGeom>
          <a:solidFill>
            <a:srgbClr val="C8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3703320"/>
            <a:ext cx="5715000" cy="438912"/>
          </a:xfrm>
          <a:prstGeom prst="rect">
            <a:avLst/>
          </a:prstGeom>
          <a:solidFill>
            <a:srgbClr val="6B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776472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DATA KARYAWAN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270248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- 36+ field tersebar di 4 koleksi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773168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- Upload dokumen PDF/JPG (KTP, KK, NPWP)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276088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- Sertifikasi HSE + monitoring expired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35508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